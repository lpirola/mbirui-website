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/>
    <p:restoredTop sz="94697"/>
  </p:normalViewPr>
  <p:slideViewPr>
    <p:cSldViewPr snapToGrid="0">
      <p:cViewPr varScale="1">
        <p:scale>
          <a:sx n="142" d="100"/>
          <a:sy n="142" d="100"/>
        </p:scale>
        <p:origin x="71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a Kolte" userId="09a03c1f-ba93-4e72-88fa-c9d72f0374e4" providerId="ADAL" clId="{3370EE23-C8F4-4539-95EB-C489EA5A5C67}"/>
    <pc:docChg chg="undo custSel delSld modSld">
      <pc:chgData name="Ida Kolte" userId="09a03c1f-ba93-4e72-88fa-c9d72f0374e4" providerId="ADAL" clId="{3370EE23-C8F4-4539-95EB-C489EA5A5C67}" dt="2022-10-11T17:24:19.287" v="4357" actId="20577"/>
      <pc:docMkLst>
        <pc:docMk/>
      </pc:docMkLst>
      <pc:sldChg chg="del">
        <pc:chgData name="Ida Kolte" userId="09a03c1f-ba93-4e72-88fa-c9d72f0374e4" providerId="ADAL" clId="{3370EE23-C8F4-4539-95EB-C489EA5A5C67}" dt="2022-10-11T17:21:51.136" v="4286" actId="2696"/>
        <pc:sldMkLst>
          <pc:docMk/>
          <pc:sldMk cId="0" sldId="256"/>
        </pc:sldMkLst>
      </pc:sldChg>
      <pc:sldChg chg="modSp mod">
        <pc:chgData name="Ida Kolte" userId="09a03c1f-ba93-4e72-88fa-c9d72f0374e4" providerId="ADAL" clId="{3370EE23-C8F4-4539-95EB-C489EA5A5C67}" dt="2022-10-11T16:50:56.648" v="1342" actId="20577"/>
        <pc:sldMkLst>
          <pc:docMk/>
          <pc:sldMk cId="0" sldId="257"/>
        </pc:sldMkLst>
        <pc:spChg chg="mod">
          <ac:chgData name="Ida Kolte" userId="09a03c1f-ba93-4e72-88fa-c9d72f0374e4" providerId="ADAL" clId="{3370EE23-C8F4-4539-95EB-C489EA5A5C67}" dt="2022-10-11T16:50:56.648" v="1342" actId="20577"/>
          <ac:spMkLst>
            <pc:docMk/>
            <pc:sldMk cId="0" sldId="257"/>
            <ac:spMk id="62" creationId="{00000000-0000-0000-0000-000000000000}"/>
          </ac:spMkLst>
        </pc:spChg>
      </pc:sldChg>
      <pc:sldChg chg="modSp mod">
        <pc:chgData name="Ida Kolte" userId="09a03c1f-ba93-4e72-88fa-c9d72f0374e4" providerId="ADAL" clId="{3370EE23-C8F4-4539-95EB-C489EA5A5C67}" dt="2022-10-11T17:24:19.287" v="4357" actId="20577"/>
        <pc:sldMkLst>
          <pc:docMk/>
          <pc:sldMk cId="0" sldId="258"/>
        </pc:sldMkLst>
        <pc:spChg chg="mod">
          <ac:chgData name="Ida Kolte" userId="09a03c1f-ba93-4e72-88fa-c9d72f0374e4" providerId="ADAL" clId="{3370EE23-C8F4-4539-95EB-C489EA5A5C67}" dt="2022-10-11T17:22:18.704" v="4311" actId="20577"/>
          <ac:spMkLst>
            <pc:docMk/>
            <pc:sldMk cId="0" sldId="258"/>
            <ac:spMk id="67" creationId="{00000000-0000-0000-0000-000000000000}"/>
          </ac:spMkLst>
        </pc:spChg>
        <pc:spChg chg="mod">
          <ac:chgData name="Ida Kolte" userId="09a03c1f-ba93-4e72-88fa-c9d72f0374e4" providerId="ADAL" clId="{3370EE23-C8F4-4539-95EB-C489EA5A5C67}" dt="2022-10-11T17:24:19.287" v="4357" actId="20577"/>
          <ac:spMkLst>
            <pc:docMk/>
            <pc:sldMk cId="0" sldId="258"/>
            <ac:spMk id="68" creationId="{00000000-0000-0000-0000-000000000000}"/>
          </ac:spMkLst>
        </pc:spChg>
      </pc:sldChg>
      <pc:sldMasterChg chg="delSldLayout">
        <pc:chgData name="Ida Kolte" userId="09a03c1f-ba93-4e72-88fa-c9d72f0374e4" providerId="ADAL" clId="{3370EE23-C8F4-4539-95EB-C489EA5A5C67}" dt="2022-10-11T17:21:51.136" v="4286" actId="2696"/>
        <pc:sldMasterMkLst>
          <pc:docMk/>
          <pc:sldMasterMk cId="0" sldId="2147483659"/>
        </pc:sldMasterMkLst>
        <pc:sldLayoutChg chg="del">
          <pc:chgData name="Ida Kolte" userId="09a03c1f-ba93-4e72-88fa-c9d72f0374e4" providerId="ADAL" clId="{3370EE23-C8F4-4539-95EB-C489EA5A5C67}" dt="2022-10-11T17:21:51.136" v="4286" actId="269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40c055e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40c055e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dakolte@hot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2676950" y="322075"/>
            <a:ext cx="0" cy="474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4"/>
          <p:cNvSpPr txBox="1"/>
          <p:nvPr/>
        </p:nvSpPr>
        <p:spPr>
          <a:xfrm>
            <a:off x="356400" y="367300"/>
            <a:ext cx="2320548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Contact Information </a:t>
            </a:r>
            <a:endParaRPr dirty="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Ida Kolte</a:t>
            </a:r>
            <a:endParaRPr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ENSP-FIOCRUZ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Rio de Janeiro, Brazil</a:t>
            </a:r>
            <a:endParaRPr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idakolte@hotmail.com</a:t>
            </a:r>
            <a:endParaRPr lang="en-GB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'Implementing </a:t>
            </a:r>
            <a:r>
              <a:rPr lang="en-GB" i="1" dirty="0" err="1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mNGS</a:t>
            </a:r>
            <a:r>
              <a:rPr lang="en-GB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analysis of lung infections in an Indigenous population’</a:t>
            </a:r>
            <a:endParaRPr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900349" y="367300"/>
            <a:ext cx="6059231" cy="470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Project Summary</a:t>
            </a:r>
            <a:endParaRPr dirty="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46050">
              <a:buClr>
                <a:schemeClr val="accent3"/>
              </a:buClr>
              <a:buSzPts val="1300"/>
            </a:pPr>
            <a:r>
              <a:rPr lang="en" sz="14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Brazil’s Indigenous population (~1M) suffers a high burden of TB and other lung infections. </a:t>
            </a: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14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nly a small proportion of cases receive a microbiologically confirmed diagnosis. </a:t>
            </a:r>
            <a:r>
              <a:rPr lang="en-GB" sz="14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Barriers to </a:t>
            </a:r>
            <a:r>
              <a:rPr lang="en-GB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care include logistical challenges, stigma, and lack of trust in the (biomedical) healthcare service.</a:t>
            </a:r>
          </a:p>
          <a:p>
            <a:pPr marL="146050">
              <a:buClr>
                <a:schemeClr val="accent3"/>
              </a:buClr>
              <a:buSzPts val="1300"/>
            </a:pPr>
            <a:endParaRPr lang="en" sz="1400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146050">
              <a:buClr>
                <a:schemeClr val="accent3"/>
              </a:buClr>
              <a:buSzPts val="1300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Aim: microbiologically confirmed diagnosis for 95% of enrolled patients in 5 Indigenous communities in the Indigenous healthcare district of Amambai in Mato Grosso do Sul (MS).</a:t>
            </a:r>
          </a:p>
          <a:p>
            <a:pPr marL="146050">
              <a:buClr>
                <a:schemeClr val="accent3"/>
              </a:buClr>
              <a:buSzPts val="1300"/>
            </a:pPr>
            <a:endParaRPr lang="en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146050">
              <a:buClr>
                <a:schemeClr val="accent3"/>
              </a:buClr>
              <a:buSzPts val="1300"/>
            </a:pPr>
            <a:r>
              <a:rPr lang="en" sz="14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This project will use 2 approaches: </a:t>
            </a:r>
          </a:p>
          <a:p>
            <a:pPr marL="457200" lvl="5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Implementing mNGS as a diagnostic tool.</a:t>
            </a:r>
          </a:p>
          <a:p>
            <a:pPr marL="457200" lvl="5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Mapping existing capacity for diagnostics &amp; co-design and implement an optimised integrated clinical and laboratory diagnostic pathway.</a:t>
            </a:r>
          </a:p>
          <a:p>
            <a:pPr marL="457200" lvl="5" indent="-311150">
              <a:buClr>
                <a:schemeClr val="accent3"/>
              </a:buClr>
              <a:buSzPts val="1300"/>
              <a:buFont typeface="Lato"/>
              <a:buChar char="-"/>
            </a:pPr>
            <a:endParaRPr lang="en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146050" lvl="2">
              <a:buClr>
                <a:schemeClr val="accent3"/>
              </a:buClr>
              <a:buSzPts val="1300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Collaboration between:</a:t>
            </a:r>
          </a:p>
          <a:p>
            <a:pPr marL="457200" lvl="2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5 Indigenous communities in the high-burden Amambai district</a:t>
            </a:r>
          </a:p>
          <a:p>
            <a:pPr marL="457200" lvl="2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Local primary and secondary healthcare system (SESAI)</a:t>
            </a:r>
          </a:p>
          <a:p>
            <a:pPr marL="457200" lvl="2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Local tertiary hospitals (SUS)</a:t>
            </a:r>
          </a:p>
          <a:p>
            <a:pPr marL="457200" lvl="2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Central Laboratory of the State of Mato Grosso do Sul (LACEN-MS)</a:t>
            </a:r>
          </a:p>
          <a:p>
            <a:pPr marL="457200" lvl="2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FIOCRUZ in Rio de Janeiro (ENSP, with input from lOC)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81125" y="252350"/>
            <a:ext cx="3993900" cy="480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Expected Impact/Outcome(s) </a:t>
            </a:r>
            <a:endParaRPr dirty="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We hope to build capacity in diagnostics of severe lung infections and address cultural barriers to care in Amambai.  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Shotgun mNGS is a potential game changer for diagnosing co-infections.The rural study setting in Central-West Brazil raises the possibility of detecting fungal infections or even novel pathogens. 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Sharing data within CZ ID will help identify any new/unexpected pathogens (this project &amp; longer term), and outbreak and AMR surveillance (long term)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ENSP has public health expertise but no laboratory facilities. The IOC has previously conducted mNGS studies and will mentor the ENSP team setting up mNGS at LACEN-MS which has no sequencing capacity yet.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Data will be shared with the Brazilian and international scientific community. 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Capacity mapping &amp; strengthening learnings will be shared with the communities, the healthcare service and other stakeholders.</a:t>
            </a:r>
            <a:endParaRPr sz="1300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84500" y="228250"/>
            <a:ext cx="3993900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Foreseeable Challenges</a:t>
            </a:r>
            <a:endParaRPr dirty="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-GB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How will SESAI and SUS staff feel about mapping capacity?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r>
              <a:rPr lang="en-GB" sz="1300" i="1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When will we be ready </a:t>
            </a:r>
            <a:r>
              <a:rPr lang="en-GB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to inform clinicians and laboratory technicians about </a:t>
            </a:r>
            <a:r>
              <a:rPr lang="en-GB" sz="1300" i="1" dirty="0" err="1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mNGS</a:t>
            </a:r>
            <a:r>
              <a:rPr lang="en-GB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results so they can be part of the diagnostic process?</a:t>
            </a:r>
          </a:p>
          <a:p>
            <a:pPr marL="457200" indent="-311150">
              <a:buClr>
                <a:schemeClr val="accent3"/>
              </a:buClr>
              <a:buSzPts val="1300"/>
              <a:buFont typeface="Lato"/>
              <a:buChar char="-"/>
            </a:pPr>
            <a:r>
              <a:rPr lang="en-GB" sz="1300" i="1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How do we avoid environmental pollution when taking and storing the sample in such challenging field conditions?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endParaRPr lang="en-GB" sz="1300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Lato"/>
              <a:buChar char="-"/>
            </a:pPr>
            <a:endParaRPr sz="1300" i="1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4428950" y="252350"/>
            <a:ext cx="0" cy="474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399</Words>
  <Application>Microsoft Office PowerPoint</Application>
  <PresentationFormat>On-screen Show (16:9)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Lato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Ida Kolte</dc:creator>
  <cp:lastModifiedBy>Ida Kolte</cp:lastModifiedBy>
  <cp:revision>2</cp:revision>
  <dcterms:modified xsi:type="dcterms:W3CDTF">2022-10-11T17:24:23Z</dcterms:modified>
</cp:coreProperties>
</file>